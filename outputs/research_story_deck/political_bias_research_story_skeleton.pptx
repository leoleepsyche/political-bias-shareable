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Left steering</c:v>
                </c:pt>
              </c:strCache>
            </c:strRef>
          </c:tx>
          <c:spPr>
            <a:solidFill>
              <a:srgbClr val="0072B2"/>
            </a:solidFill>
          </c:spPr>
          <c:cat>
            <c:strRef>
              <c:f>Sheet1!$A$2:$A$4</c:f>
              <c:strCache>
                <c:ptCount val="3"/>
                <c:pt idx="0">
                  <c:v>Qwen</c:v>
                </c:pt>
                <c:pt idx="1">
                  <c:v>Mistral</c:v>
                </c:pt>
                <c:pt idx="2">
                  <c:v>Llama-3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0.9102</c:v>
                </c:pt>
                <c:pt idx="1">
                  <c:v>1.0</c:v>
                </c:pt>
                <c:pt idx="2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Right steering</c:v>
                </c:pt>
              </c:strCache>
            </c:strRef>
          </c:tx>
          <c:spPr>
            <a:solidFill>
              <a:srgbClr val="FF7F0E"/>
            </a:solidFill>
          </c:spPr>
          <c:cat>
            <c:strRef>
              <c:f>Sheet1!$A$2:$A$4</c:f>
              <c:strCache>
                <c:ptCount val="3"/>
                <c:pt idx="0">
                  <c:v>Qwen</c:v>
                </c:pt>
                <c:pt idx="1">
                  <c:v>Mistral</c:v>
                </c:pt>
                <c:pt idx="2">
                  <c:v>Llama-3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2"/>
          <c:min val="0.84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0.02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2344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1919"/>
                </a:solidFill>
                <a:latin typeface="Aptos"/>
              </a:defRPr>
            </a:pPr>
            <a:r>
              <a:t>Political Stance Detection and Steering in Instruction-Tuned LLMs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1488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F4E79"/>
                </a:solidFill>
                <a:latin typeface="Aptos"/>
              </a:defRPr>
            </a:pPr>
            <a:r>
              <a:t>A step-by-step research story from current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t>Core question: are political stance patterns detectable, steerable, and consistent across languages?</a:t>
            </a:r>
          </a:p>
          <a:p>
            <a:pPr>
              <a:spcAft>
                <a:spcPts val="8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t>Current focus: Qwen2.5-7B-Instruct, Mistral-7B-Instruct-v0.2, and Llama-3-8B-Instruct.</a:t>
            </a:r>
          </a:p>
          <a:p>
            <a:pPr>
              <a:spcAft>
                <a:spcPts val="8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t>Main emerging result: detectability and steerability are not the same property.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Research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Move from observing bias to testing causal controllability.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Many evaluations ask whether LLMs show political bias in their answers.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This project asks a stronger question: whether political stance behavior can be systematically moved by activation steering.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The research object is not only the final answer, but the relationship between internal representation, intervention strength, language, and model family.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The practical implication: a model can be highly separable in detection while still being weakly steerable in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Three Research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3520440" cy="2926080"/>
          </a:xfrm>
          <a:prstGeom prst="roundRect">
            <a:avLst/>
          </a:prstGeom>
          <a:solidFill>
            <a:srgbClr val="EEF2F6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57400"/>
            <a:ext cx="3118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Aptos"/>
              </a:defRPr>
            </a:pPr>
            <a:r>
              <a:t>1. Detectability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06040"/>
            <a:ext cx="311810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91919"/>
                </a:solidFill>
                <a:latin typeface="Aptos"/>
              </a:defRPr>
            </a:pPr>
            <a:r>
              <a:t>Can political stance patterns be separated reliably in the model's responses or representations?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2272" y="1874519"/>
            <a:ext cx="3520440" cy="2926080"/>
          </a:xfrm>
          <a:prstGeom prst="roundRect">
            <a:avLst/>
          </a:prstGeom>
          <a:solidFill>
            <a:srgbClr val="EEF2F6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57400"/>
            <a:ext cx="3118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Aptos"/>
              </a:defRPr>
            </a:pPr>
            <a:r>
              <a:t>2. Steerability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06040"/>
            <a:ext cx="311810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91919"/>
                </a:solidFill>
                <a:latin typeface="Aptos"/>
              </a:defRPr>
            </a:pPr>
            <a:r>
              <a:t>If we apply a left/right steering vector, do model answers move in the intended direction?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84464" y="1874519"/>
            <a:ext cx="3520440" cy="2926080"/>
          </a:xfrm>
          <a:prstGeom prst="roundRect">
            <a:avLst/>
          </a:prstGeom>
          <a:solidFill>
            <a:srgbClr val="EEF2F6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2057400"/>
            <a:ext cx="3118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Aptos"/>
              </a:defRPr>
            </a:pPr>
            <a:r>
              <a:t>3. 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606040"/>
            <a:ext cx="311810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91919"/>
                </a:solidFill>
                <a:latin typeface="Aptos"/>
              </a:defRPr>
            </a:pPr>
            <a:r>
              <a:t>Are these effects stable across models, languages, and steering coefficients?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Concrete Example: Training Classification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The classifier is trained on paired left/right ideological responses, not on Political Compass outputs.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154680" cy="1691640"/>
          </a:xfrm>
          <a:prstGeom prst="roundRect">
            <a:avLst/>
          </a:prstGeom>
          <a:solidFill>
            <a:srgbClr val="F6F8FA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463040"/>
            <a:ext cx="2825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  <a:latin typeface="Aptos"/>
              </a:defRPr>
            </a:pPr>
            <a:r>
              <a:t>Shared instruction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01368"/>
            <a:ext cx="2825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91919"/>
                </a:solidFill>
                <a:latin typeface="Aptos"/>
              </a:defRPr>
            </a:pPr>
            <a:r>
              <a:t>Would you say that Black people are treated less fairly than white people, white people are treated less fairly than Black people, or both are treated about equally?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77639" y="1965960"/>
            <a:ext cx="502920" cy="292608"/>
          </a:xfrm>
          <a:prstGeom prst="right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54880" y="1234440"/>
            <a:ext cx="2971800" cy="1325880"/>
          </a:xfrm>
          <a:prstGeom prst="roundRect">
            <a:avLst/>
          </a:prstGeom>
          <a:solidFill>
            <a:srgbClr val="F6F8FA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9472" y="1371600"/>
            <a:ext cx="2642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  <a:latin typeface="Aptos"/>
              </a:defRPr>
            </a:pPr>
            <a:r>
              <a:t>Left-labeled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1709928"/>
            <a:ext cx="26426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91919"/>
                </a:solidFill>
                <a:latin typeface="Aptos"/>
              </a:defRPr>
            </a:pPr>
            <a:r>
              <a:t>Example response_text:</a:t>
            </a:r>
            <a:br/>
            <a:r>
              <a:t>Black people are treated less fairly than white people in dealings with the police...</a:t>
            </a:r>
            <a:br/>
            <a:br/>
            <a:r>
              <a:t>For left detector: y = 1</a:t>
            </a:r>
            <a:br/>
            <a:r>
              <a:t>For right detector: y =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971800"/>
            <a:ext cx="2971800" cy="1325880"/>
          </a:xfrm>
          <a:prstGeom prst="roundRect">
            <a:avLst/>
          </a:prstGeom>
          <a:solidFill>
            <a:srgbClr val="F6F8FA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9472" y="3108960"/>
            <a:ext cx="2642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  <a:latin typeface="Aptos"/>
              </a:defRPr>
            </a:pPr>
            <a:r>
              <a:t>Right-labeled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3447288"/>
            <a:ext cx="26426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91919"/>
                </a:solidFill>
                <a:latin typeface="Aptos"/>
              </a:defRPr>
            </a:pPr>
            <a:r>
              <a:t>Example response_text:</a:t>
            </a:r>
            <a:br/>
            <a:r>
              <a:t>The focus should be on the individual's actions, not their race...</a:t>
            </a:r>
            <a:br/>
            <a:br/>
            <a:r>
              <a:t>For left detector: y = 0</a:t>
            </a:r>
            <a:br/>
            <a:r>
              <a:t>For right detector: y = 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55279" y="2331720"/>
            <a:ext cx="502920" cy="292608"/>
          </a:xfrm>
          <a:prstGeom prst="right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32520" y="1600200"/>
            <a:ext cx="2788920" cy="2057400"/>
          </a:xfrm>
          <a:prstGeom prst="roundRect">
            <a:avLst/>
          </a:prstGeom>
          <a:solidFill>
            <a:srgbClr val="EBF3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97112" y="1737360"/>
            <a:ext cx="2459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  <a:latin typeface="Aptos"/>
              </a:defRPr>
            </a:pPr>
            <a:r>
              <a:t>Training inputs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2" y="2075688"/>
            <a:ext cx="245973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91919"/>
                </a:solidFill>
                <a:latin typeface="Aptos"/>
              </a:defRPr>
            </a:pPr>
            <a:r>
              <a:t>Each paired instruction becomes two classifier inputs after prompt wrapping:</a:t>
            </a:r>
            <a:br/>
            <a:br/>
            <a:r>
              <a:t>What is your opinion on the following statement?</a:t>
            </a:r>
            <a:br/>
            <a:r>
              <a:t>Statement: {response_text}</a:t>
            </a:r>
            <a:br/>
            <a:r>
              <a:t>Opinion: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C5C5C"/>
                </a:solidFill>
                <a:latin typeface="Aptos"/>
              </a:defRPr>
            </a:pPr>
            <a:r>
              <a:t>Canonical split: 600 train pairs, 120 validation pairs, and 120 test pairs. Each pair contains one left and one right response, so each detector sees 1200 train inputs.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4243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Source: IDEOINST dataset from Chen et al. (EMNLP 2024), processed locally as data/ideoinst_clean/ideology_840_opinion.csv; split/labels in pipeline/detect.py.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Probe Training: Learning a Political Direction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This stage trains a supervised classifier on hidden activations.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1704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C5C5C"/>
                </a:solidFill>
                <a:latin typeface="Aptos"/>
              </a:defRPr>
            </a:pPr>
            <a:r>
              <a:t>PROBE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926080" cy="1143000"/>
          </a:xfrm>
          <a:prstGeom prst="roundRect">
            <a:avLst/>
          </a:prstGeom>
          <a:solidFill>
            <a:srgbClr val="F8F9FA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4592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  <a:latin typeface="Aptos"/>
              </a:defRPr>
            </a:pPr>
            <a:r>
              <a:t>Training input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84248"/>
            <a:ext cx="25968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91919"/>
                </a:solidFill>
                <a:latin typeface="Aptos"/>
              </a:defRPr>
            </a:pPr>
            <a:r>
              <a:t>Prompt-wrapped ideological response:</a:t>
            </a:r>
            <a:br/>
            <a:br/>
            <a:r>
              <a:t>What is your opinion on the following statement?</a:t>
            </a:r>
            <a:br/>
            <a:r>
              <a:t>Statement: {response_text}</a:t>
            </a:r>
            <a:br/>
            <a:r>
              <a:t>Opinion: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63240"/>
            <a:ext cx="292608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20040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  <a:latin typeface="Aptos"/>
              </a:defRPr>
            </a:pPr>
            <a:r>
              <a:t>Supervised label 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538728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91919"/>
                </a:solidFill>
                <a:latin typeface="Aptos"/>
              </a:defRPr>
            </a:pPr>
            <a:r>
              <a:t>Left detector: left response = 1, right response = 0</a:t>
            </a:r>
            <a:br/>
            <a:r>
              <a:t>Right detector: right response = 1, left response = 0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11880" y="2240280"/>
            <a:ext cx="566928" cy="320040"/>
          </a:xfrm>
          <a:prstGeom prst="right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920240"/>
            <a:ext cx="1005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15798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91919"/>
                </a:solidFill>
                <a:latin typeface="Aptos"/>
              </a:defRPr>
            </a:pPr>
            <a:r>
              <a:t>LLM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46320" y="2697480"/>
            <a:ext cx="0" cy="274320"/>
          </a:xfrm>
          <a:prstGeom prst="line">
            <a:avLst/>
          </a:prstGeom>
          <a:ln w="1524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0" y="2971800"/>
            <a:ext cx="9144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0752" y="3154680"/>
            <a:ext cx="7680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91919"/>
                </a:solidFill>
                <a:latin typeface="Aptos"/>
              </a:defRPr>
            </a:pPr>
            <a:r>
              <a:t>Read-in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971800"/>
            <a:ext cx="960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48072" y="3154680"/>
            <a:ext cx="8138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91919"/>
                </a:solidFill>
                <a:latin typeface="Aptos"/>
              </a:defRPr>
            </a:pPr>
            <a:r>
              <a:t>Block 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0" y="3255264"/>
            <a:ext cx="502920" cy="0"/>
          </a:xfrm>
          <a:prstGeom prst="line">
            <a:avLst/>
          </a:prstGeom>
          <a:ln w="1524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92240" y="2971800"/>
            <a:ext cx="960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154680"/>
            <a:ext cx="8138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91919"/>
                </a:solidFill>
                <a:latin typeface="Aptos"/>
              </a:defRPr>
            </a:pPr>
            <a:r>
              <a:t>Block 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5040" y="3255264"/>
            <a:ext cx="457200" cy="0"/>
          </a:xfrm>
          <a:prstGeom prst="line">
            <a:avLst/>
          </a:prstGeom>
          <a:ln w="1524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818120" y="2971800"/>
            <a:ext cx="502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2" y="3154680"/>
            <a:ext cx="356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91919"/>
                </a:solidFill>
                <a:latin typeface="Aptos"/>
              </a:defRPr>
            </a:pPr>
            <a:r>
              <a:t>...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52360" y="3255264"/>
            <a:ext cx="365760" cy="0"/>
          </a:xfrm>
          <a:prstGeom prst="line">
            <a:avLst/>
          </a:prstGeom>
          <a:ln w="1524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778240" y="2971800"/>
            <a:ext cx="960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51392" y="3154680"/>
            <a:ext cx="8138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91919"/>
                </a:solidFill>
                <a:latin typeface="Aptos"/>
              </a:defRPr>
            </a:pPr>
            <a:r>
              <a:t>Block 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21040" y="3255264"/>
            <a:ext cx="457200" cy="0"/>
          </a:xfrm>
          <a:prstGeom prst="line">
            <a:avLst/>
          </a:prstGeom>
          <a:ln w="1524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195560" y="2971800"/>
            <a:ext cx="1051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68712" y="3154680"/>
            <a:ext cx="9052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91919"/>
                </a:solidFill>
                <a:latin typeface="Aptos"/>
              </a:defRPr>
            </a:pPr>
            <a:r>
              <a:t>Read-out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38360" y="3255264"/>
            <a:ext cx="457200" cy="0"/>
          </a:xfrm>
          <a:prstGeom prst="line">
            <a:avLst/>
          </a:prstGeom>
          <a:ln w="1524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486400" y="3538728"/>
            <a:ext cx="182880" cy="667512"/>
          </a:xfrm>
          <a:prstGeom prst="line">
            <a:avLst/>
          </a:prstGeom>
          <a:ln w="1524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513832" y="4133087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5C5C"/>
                </a:solidFill>
                <a:latin typeface="Aptos"/>
              </a:defRPr>
            </a:pPr>
            <a:r>
              <a:t>A1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57800" y="4572000"/>
            <a:ext cx="8686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13248" y="4690872"/>
            <a:ext cx="5669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91919"/>
                </a:solidFill>
                <a:latin typeface="Aptos"/>
              </a:defRPr>
            </a:pPr>
            <a:r>
              <a:t>0 or 1?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903720" y="3538728"/>
            <a:ext cx="182880" cy="667512"/>
          </a:xfrm>
          <a:prstGeom prst="line">
            <a:avLst/>
          </a:prstGeom>
          <a:ln w="1524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931152" y="4133087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5C5C"/>
                </a:solidFill>
                <a:latin typeface="Aptos"/>
              </a:defRPr>
            </a:pPr>
            <a:r>
              <a:t>A2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4572000"/>
            <a:ext cx="8686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0568" y="4690872"/>
            <a:ext cx="5669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91919"/>
                </a:solidFill>
                <a:latin typeface="Aptos"/>
              </a:defRPr>
            </a:pPr>
            <a:r>
              <a:t>0 or 1?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89720" y="3538728"/>
            <a:ext cx="182880" cy="667512"/>
          </a:xfrm>
          <a:prstGeom prst="line">
            <a:avLst/>
          </a:prstGeom>
          <a:ln w="1524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217152" y="4133087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5C5C"/>
                </a:solidFill>
                <a:latin typeface="Aptos"/>
              </a:defRPr>
            </a:pPr>
            <a:r>
              <a:t>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61120" y="4572000"/>
            <a:ext cx="8686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16568" y="4690872"/>
            <a:ext cx="5669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91919"/>
                </a:solidFill>
                <a:latin typeface="Aptos"/>
              </a:defRPr>
            </a:pPr>
            <a:r>
              <a:t>0 or 1?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23960" y="1417320"/>
            <a:ext cx="2468880" cy="1143000"/>
          </a:xfrm>
          <a:prstGeom prst="roundRect">
            <a:avLst/>
          </a:prstGeom>
          <a:solidFill>
            <a:srgbClr val="EBF3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88552" y="155448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  <a:latin typeface="Aptos"/>
              </a:defRPr>
            </a:pPr>
            <a:r>
              <a:t>Probe objective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88552" y="1892808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91919"/>
                </a:solidFill>
                <a:latin typeface="Aptos"/>
              </a:defRPr>
            </a:pPr>
            <a:r>
              <a:t>Train RFM / linear probe to predict y from layer activations.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23960" y="4663440"/>
            <a:ext cx="2468880" cy="868680"/>
          </a:xfrm>
          <a:prstGeom prst="roundRect">
            <a:avLst/>
          </a:prstGeom>
          <a:solidFill>
            <a:srgbClr val="EBF3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88552" y="480060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  <a:latin typeface="Aptos"/>
              </a:defRPr>
            </a:pPr>
            <a:r>
              <a:t>Model selection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88552" y="5138928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91919"/>
                </a:solidFill>
                <a:latin typeface="Aptos"/>
              </a:defRPr>
            </a:pPr>
            <a:r>
              <a:t>Choose l* by validation AUC; save that layer's direction for downstream steering.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589788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Method reference: Beaglehole et al., Science 391(6787):787-792 (2026), doi:10.1126/science.aea6792; local implementation via neural_controllers and pipeline/detect.py.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Activation Steering: Mathematical Formulation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The learned probe direction becomes an additive intervention in hidden-state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1338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C5C5C"/>
                </a:solidFill>
                <a:latin typeface="Aptos"/>
              </a:defRPr>
            </a:pPr>
            <a:r>
              <a:t>STEER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623560" cy="2788920"/>
          </a:xfrm>
          <a:prstGeom prst="roundRect">
            <a:avLst/>
          </a:prstGeom>
          <a:solidFill>
            <a:srgbClr val="F6F8FA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6420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Aptos"/>
              </a:defRPr>
            </a:pPr>
            <a:r>
              <a:t>Core intervention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91919"/>
                </a:solidFill>
                <a:latin typeface="Aptos"/>
              </a:defRPr>
            </a:pPr>
            <a:r>
              <a:t>l*  =  argmax_l AUC_val(l)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91919"/>
                </a:solidFill>
                <a:latin typeface="Aptos"/>
              </a:defRPr>
            </a:pPr>
            <a:r>
              <a:t>h'_{l*,t}  =  h_{l*,t}  +  α · v_{l*}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8444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5C5C5C"/>
                </a:solidFill>
                <a:latin typeface="Aptos"/>
              </a:defRPr>
            </a:pPr>
            <a:r>
              <a:t>α ∈ {0, 0.8, 1.5, 2.5, 4}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417320"/>
            <a:ext cx="470916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664208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Aptos"/>
              </a:defRPr>
            </a:pPr>
            <a:r>
              <a:t>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212848"/>
            <a:ext cx="4160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91919"/>
                </a:solidFill>
                <a:latin typeface="Aptos"/>
              </a:defRPr>
            </a:pPr>
            <a:r>
              <a:t>l*: validation-selected best layer</a:t>
            </a:r>
            <a:br/>
            <a:r>
              <a:t>h_{l*,t}: hidden state at layer l* and token t</a:t>
            </a:r>
            <a:br/>
            <a:r>
              <a:t>v_{l*}: direction learned at layer l*</a:t>
            </a:r>
            <a:br/>
            <a:r>
              <a:t>α: steering strength / coefficient</a:t>
            </a:r>
            <a:br/>
            <a:r>
              <a:t>h'_{l*,t}: modified hidden state used for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72000"/>
            <a:ext cx="10652760" cy="1097280"/>
          </a:xfrm>
          <a:prstGeom prst="roundRect">
            <a:avLst/>
          </a:prstGeom>
          <a:solidFill>
            <a:srgbClr val="EBF3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73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78231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91919"/>
                </a:solidFill>
                <a:latin typeface="Aptos"/>
              </a:defRPr>
            </a:pPr>
            <a:r>
              <a:t>Generate answers with α, parse stance labels, then compare</a:t>
            </a:r>
            <a:br/>
            <a:r>
              <a:t>P_α(stance | model, language, side) and Δ mean stance(α)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97880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5C5C"/>
                </a:solidFill>
                <a:latin typeface="Aptos"/>
              </a:defRPr>
            </a:pPr>
            <a:r>
              <a:t>Interpretation: only the best layer l* is intervened on; if stance shifts as α increases, that layer's direction is behaviorally steerable.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Experimental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The current deck uses the three instruct models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508760"/>
            <a:ext cx="8503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91919"/>
                </a:solidFill>
                <a:latin typeface="Aptos"/>
              </a:defRPr>
            </a:pPr>
            <a:r>
              <a:t>Qwen2.5-7B-Instruct; Mistral-7B-Instruct-v0.2; Llama-3-8B-Instruct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Aptos"/>
              </a:defRPr>
            </a:pPr>
            <a:r>
              <a:t>Languages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94560"/>
            <a:ext cx="8503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91919"/>
                </a:solidFill>
                <a:latin typeface="Aptos"/>
              </a:defRPr>
            </a:pPr>
            <a:r>
              <a:t>English, Italian, French, Spanish, German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Aptos"/>
              </a:defRPr>
            </a:pPr>
            <a:r>
              <a:t>Interventions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880360"/>
            <a:ext cx="8503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91919"/>
                </a:solidFill>
                <a:latin typeface="Aptos"/>
              </a:defRPr>
            </a:pPr>
            <a:r>
              <a:t>Left steering and right steering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Aptos"/>
              </a:defRPr>
            </a:pPr>
            <a:r>
              <a:t>Coefficients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566160"/>
            <a:ext cx="8503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91919"/>
                </a:solidFill>
                <a:latin typeface="Aptos"/>
              </a:defRPr>
            </a:pPr>
            <a:r>
              <a:t>0, 0.8, 1.5, 2.5, 4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Aptos"/>
              </a:defRPr>
            </a:pPr>
            <a:r>
              <a:t>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251960"/>
            <a:ext cx="8503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91919"/>
                </a:solidFill>
                <a:latin typeface="Aptos"/>
              </a:defRPr>
            </a:pPr>
            <a:r>
              <a:t>62 political compass-style statements per condition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Method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A simple pipeline: answer, parse, detect, steer, compare.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20440" cy="2926080"/>
          </a:xfrm>
          <a:prstGeom prst="roundRect">
            <a:avLst/>
          </a:prstGeom>
          <a:solidFill>
            <a:srgbClr val="EEF2F6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57400"/>
            <a:ext cx="3118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Aptos"/>
              </a:defRPr>
            </a:pPr>
            <a:r>
              <a:t>1. Collect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06040"/>
            <a:ext cx="311810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91919"/>
                </a:solidFill>
                <a:latin typeface="Aptos"/>
              </a:defRPr>
            </a:pPr>
            <a:r>
              <a:t>Ask each model to answer multilingual political statements under baseline and steered settings.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874519"/>
            <a:ext cx="3520440" cy="2926080"/>
          </a:xfrm>
          <a:prstGeom prst="roundRect">
            <a:avLst/>
          </a:prstGeom>
          <a:solidFill>
            <a:srgbClr val="EEF2F6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57400"/>
            <a:ext cx="3118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Aptos"/>
              </a:defRPr>
            </a:pPr>
            <a:r>
              <a:t>2. Parse 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06040"/>
            <a:ext cx="311810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91919"/>
                </a:solidFill>
                <a:latin typeface="Aptos"/>
              </a:defRPr>
            </a:pPr>
            <a:r>
              <a:t>Map outputs into four stance classes: strongly disagree, disagree, agree, strongly agree.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4464" y="1874519"/>
            <a:ext cx="3520440" cy="2926080"/>
          </a:xfrm>
          <a:prstGeom prst="roundRect">
            <a:avLst/>
          </a:prstGeom>
          <a:solidFill>
            <a:srgbClr val="EEF2F6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057400"/>
            <a:ext cx="3118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Aptos"/>
              </a:defRPr>
            </a:pPr>
            <a:r>
              <a:t>3. Compare shifts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606040"/>
            <a:ext cx="311810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91919"/>
                </a:solidFill>
                <a:latin typeface="Aptos"/>
              </a:defRPr>
            </a:pPr>
            <a:r>
              <a:t>Measure how stance distributions and mean stance scores change as coefficient increases.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Detection vs. Steering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This distinction is central to the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Detection asks whether political response patterns are separable. A high AUC can mean the task creates a very clean ranking signal.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Steering asks whether an intervention changes behavior. This is closer to a causal test.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AUC can be near 1 in a controlled benchmark, but that does not automatically imply robust real-world political understanding.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The current results suggest: detectable does not necessarily mean strongly steerable.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Detection Result: Hidden-State Separability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Best-layer AUC is high across models, but Qwen-left is the visibly weaker direction.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98448"/>
            <a:ext cx="0" cy="3319272"/>
          </a:xfrm>
          <a:prstGeom prst="line">
            <a:avLst/>
          </a:prstGeom>
          <a:ln w="16510">
            <a:solidFill>
              <a:srgbClr val="D7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417320"/>
          <a:ext cx="5669280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6446520" y="1298448"/>
            <a:ext cx="0" cy="3319272"/>
          </a:xfrm>
          <a:prstGeom prst="line">
            <a:avLst/>
          </a:prstGeom>
          <a:ln w="16510">
            <a:solidFill>
              <a:srgbClr val="D7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086600" y="1170432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  <a:latin typeface="Aptos"/>
              </a:defRPr>
            </a:pPr>
            <a:r>
              <a:t>Best layer used for steering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03720" y="1572768"/>
          <a:ext cx="3054096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502920"/>
                <a:gridCol w="713232"/>
                <a:gridCol w="786384"/>
              </a:tblGrid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Det.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Best</a:t>
                      </a:r>
                    </a:p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layer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Best</a:t>
                      </a:r>
                    </a:p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91919"/>
                          </a:solidFill>
                          <a:latin typeface="Aptos"/>
                        </a:rPr>
                        <a:t>Qwen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072B2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91919"/>
                          </a:solidFill>
                          <a:latin typeface="Aptos"/>
                        </a:rPr>
                        <a:t>-27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91919"/>
                          </a:solidFill>
                          <a:latin typeface="Aptos"/>
                        </a:rPr>
                        <a:t>0.910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91919"/>
                          </a:solidFill>
                          <a:latin typeface="Aptos"/>
                        </a:rPr>
                        <a:t>Qwen</a:t>
                      </a:r>
                    </a:p>
                  </a:txBody>
                  <a:tcPr marL="27432" marR="27432" marT="18288" marB="18288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E69F00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27432" marR="27432" marT="18288" marB="18288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91919"/>
                          </a:solidFill>
                          <a:latin typeface="Aptos"/>
                        </a:rPr>
                        <a:t>-8</a:t>
                      </a:r>
                    </a:p>
                  </a:txBody>
                  <a:tcPr marL="27432" marR="27432" marT="18288" marB="18288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91919"/>
                          </a:solidFill>
                          <a:latin typeface="Aptos"/>
                        </a:rPr>
                        <a:t>1.000</a:t>
                      </a:r>
                    </a:p>
                  </a:txBody>
                  <a:tcPr marL="27432" marR="27432" marT="18288" marB="18288">
                    <a:solidFill>
                      <a:srgbClr val="F8F9FA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91919"/>
                          </a:solidFill>
                          <a:latin typeface="Aptos"/>
                        </a:rPr>
                        <a:t>Mistral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072B2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91919"/>
                          </a:solidFill>
                          <a:latin typeface="Aptos"/>
                        </a:rPr>
                        <a:t>-2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91919"/>
                          </a:solidFill>
                          <a:latin typeface="Aptos"/>
                        </a:rPr>
                        <a:t>1.000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91919"/>
                          </a:solidFill>
                          <a:latin typeface="Aptos"/>
                        </a:rPr>
                        <a:t>Mistral</a:t>
                      </a:r>
                    </a:p>
                  </a:txBody>
                  <a:tcPr marL="27432" marR="27432" marT="18288" marB="18288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E69F00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27432" marR="27432" marT="18288" marB="18288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91919"/>
                          </a:solidFill>
                          <a:latin typeface="Aptos"/>
                        </a:rPr>
                        <a:t>-2</a:t>
                      </a:r>
                    </a:p>
                  </a:txBody>
                  <a:tcPr marL="27432" marR="27432" marT="18288" marB="18288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91919"/>
                          </a:solidFill>
                          <a:latin typeface="Aptos"/>
                        </a:rPr>
                        <a:t>1.000</a:t>
                      </a:r>
                    </a:p>
                  </a:txBody>
                  <a:tcPr marL="27432" marR="27432" marT="18288" marB="18288">
                    <a:solidFill>
                      <a:srgbClr val="F8F9FA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91919"/>
                          </a:solidFill>
                          <a:latin typeface="Aptos"/>
                        </a:rPr>
                        <a:t>Llama-3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072B2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91919"/>
                          </a:solidFill>
                          <a:latin typeface="Aptos"/>
                        </a:rPr>
                        <a:t>-18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91919"/>
                          </a:solidFill>
                          <a:latin typeface="Aptos"/>
                        </a:rPr>
                        <a:t>1.000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0697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91919"/>
                          </a:solidFill>
                          <a:latin typeface="Aptos"/>
                        </a:rPr>
                        <a:t>Llama-3</a:t>
                      </a:r>
                    </a:p>
                  </a:txBody>
                  <a:tcPr marL="27432" marR="27432" marT="18288" marB="18288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E69F00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 marL="27432" marR="27432" marT="18288" marB="18288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91919"/>
                          </a:solidFill>
                          <a:latin typeface="Aptos"/>
                        </a:rPr>
                        <a:t>-16</a:t>
                      </a:r>
                    </a:p>
                  </a:txBody>
                  <a:tcPr marL="27432" marR="27432" marT="18288" marB="18288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91919"/>
                          </a:solidFill>
                          <a:latin typeface="Aptos"/>
                        </a:rPr>
                        <a:t>1.000</a:t>
                      </a:r>
                    </a:p>
                  </a:txBody>
                  <a:tcPr marL="27432" marR="27432" marT="18288" marB="18288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903720" y="3977639"/>
            <a:ext cx="4160520" cy="960120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68312" y="4114799"/>
            <a:ext cx="3831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  <a:latin typeface="Aptos"/>
              </a:defRPr>
            </a:pPr>
            <a:r>
              <a:t>How to read this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8312" y="4453127"/>
            <a:ext cx="3831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91919"/>
                </a:solidFill>
                <a:latin typeface="Aptos"/>
              </a:defRPr>
            </a:pPr>
            <a:r>
              <a:t>Best layer is the single layer selected by validation AUC and used for steering. The table reports the steering layer and its test AUC.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349240"/>
            <a:ext cx="10561320" cy="566928"/>
          </a:xfrm>
          <a:prstGeom prst="roundRect">
            <a:avLst/>
          </a:prstGeom>
          <a:solidFill>
            <a:srgbClr val="F8F9FA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5486400"/>
            <a:ext cx="10232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5824728"/>
            <a:ext cx="1023213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91919"/>
                </a:solidFill>
                <a:latin typeface="Aptos"/>
              </a:defRPr>
            </a:pPr>
            <a:r>
              <a:t>Detection is strong across all three models, but downstream steering still tests only the selected best-layer direction.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108192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5C5C5C"/>
                </a:solidFill>
                <a:latin typeface="Aptos"/>
              </a:defRPr>
            </a:pPr>
            <a:r>
              <a:t>Source: story_detection_data.csv; Qwen values are parsed from the promptfixed steering logs so the AUC/layer matches the intervention.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Steering Intervention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Two directions, five strengths, multiple languages.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Left steering: push activations in the learned left-leaning direction.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Right steering: push activations in the opposite direction.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Coefficient controls intervention strength.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A true steering effect should produce a dose-response pattern rather than random fluctuation.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E79"/>
                </a:solidFill>
                <a:latin typeface="Aptos"/>
              </a:defRPr>
            </a:pPr>
            <a:r>
              <a:t>Expected evidence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423160"/>
            <a:ext cx="4389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t>coef increases -&gt; stance score changes monotonically or near-monotonically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t>left and right steering move in opposite directions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t>effect repeats across at least some languages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Output Parsing and Stance Labels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Quality control comes before interpretation.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Each model answer is parsed into one of four ordered stance labels.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Mean stance score summarizes movement, but it hides the underlying distribution.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Stacked bars show the full distribution, including unparsed outputs.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Radar plots show the shape of stance proportions at the strongest coefficient.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Quality Control: Parse 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Mistral requires caution because some language settings are less parseable.</a:t>
            </a:r>
          </a:p>
        </p:txBody>
      </p:sp>
      <p:pic>
        <p:nvPicPr>
          <p:cNvPr id="5" name="Picture 4" descr="parse_rat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881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Steering Results: English Item and Coordinate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Yellow alpha=4 rows are the English rows repeated in the cross-lingual summary.</a:t>
            </a:r>
          </a:p>
        </p:txBody>
      </p:sp>
      <p:pic>
        <p:nvPicPr>
          <p:cNvPr id="5" name="Picture 4" descr="fig2a_en_item_coordinate_chang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8428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Reading: Changed items compare parsed stance labels with alpha=0; Delta Econ/Social and distance summarize movement in compass coordinates.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Steering Results: Italian Item and Coordinate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Yellow alpha=4 rows are the Italian rows repeated in the cross-lingual summary.</a:t>
            </a:r>
          </a:p>
        </p:txBody>
      </p:sp>
      <p:pic>
        <p:nvPicPr>
          <p:cNvPr id="5" name="Picture 4" descr="fig2a_it_item_coordinate_chang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8428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Reading: Changed items compare parsed stance labels with alpha=0; Delta Econ/Social and distance summarize movement in compass coordinates.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Steering Results: French Item and Coordinate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Yellow alpha=4 rows are the French rows repeated in the cross-lingual summary.</a:t>
            </a:r>
          </a:p>
        </p:txBody>
      </p:sp>
      <p:pic>
        <p:nvPicPr>
          <p:cNvPr id="5" name="Picture 4" descr="fig2a_fr_item_coordinate_chang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8428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Reading: Changed items compare parsed stance labels with alpha=0; Delta Econ/Social and distance summarize movement in compass coordinates.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Steering Results: Spanish Item and Coordinate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Yellow alpha=4 rows are the Spanish rows repeated in the cross-lingual summary.</a:t>
            </a:r>
          </a:p>
        </p:txBody>
      </p:sp>
      <p:pic>
        <p:nvPicPr>
          <p:cNvPr id="5" name="Picture 4" descr="fig2a_es_item_coordinate_chang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8428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Reading: Changed items compare parsed stance labels with alpha=0; Delta Econ/Social and distance summarize movement in compass coordinates.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Steering Results: German Item and Coordinate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Yellow alpha=4 rows are the German rows repeated in the cross-lingual summary.</a:t>
            </a:r>
          </a:p>
        </p:txBody>
      </p:sp>
      <p:pic>
        <p:nvPicPr>
          <p:cNvPr id="5" name="Picture 4" descr="fig2a_de_item_coordinate_chang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8428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Reading: Changed items compare parsed stance labels with alpha=0; Delta Econ/Social and distance summarize movement in compass coordinates.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Cross-Lingual Item and Coordinate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At alpha=4, the strongest behavioral movement is model- and language-dependent.</a:t>
            </a:r>
          </a:p>
        </p:txBody>
      </p:sp>
      <p:pic>
        <p:nvPicPr>
          <p:cNvPr id="5" name="Picture 4" descr="fig2b_crosslingual_alpha4_item_coordinate_chang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115568"/>
            <a:ext cx="1147572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Takeaway: Llama-3 left steering changes many more items than Qwen or Mistral; right steering is weaker except for Llama-3 French.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Stance Distribution: Qwen English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Stacked bars show how answer-category proportions shift with increasing steering coefficient.</a:t>
            </a:r>
          </a:p>
        </p:txBody>
      </p:sp>
      <p:pic>
        <p:nvPicPr>
          <p:cNvPr id="5" name="Picture 4" descr="figS1_focused_stance_distribution_qwe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This supplementary view shows answer-category proportions per steering coefficient; it is not a coordinate trajectory.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Stance Distribution: Qwen Italian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Stacked bars show how answer-category proportions shift with increasing steering coefficient.</a:t>
            </a:r>
          </a:p>
        </p:txBody>
      </p:sp>
      <p:pic>
        <p:nvPicPr>
          <p:cNvPr id="5" name="Picture 4" descr="figS1_focused_stance_distribution_qwen_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This supplementary view shows answer-category proportions per steering coefficient; it is not a coordinate trajectory.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Stance Distribution: Qwen French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Stacked bars show how answer-category proportions shift with increasing steering coefficient.</a:t>
            </a:r>
          </a:p>
        </p:txBody>
      </p:sp>
      <p:pic>
        <p:nvPicPr>
          <p:cNvPr id="5" name="Picture 4" descr="figS1_focused_stance_distribution_qwen_f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This supplementary view shows answer-category proportions per steering coefficient; it is not a coordinate trajectory.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Stance Distribution: Qwen Spanish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Stacked bars show how answer-category proportions shift with increasing steering coefficient.</a:t>
            </a:r>
          </a:p>
        </p:txBody>
      </p:sp>
      <p:pic>
        <p:nvPicPr>
          <p:cNvPr id="5" name="Picture 4" descr="figS1_focused_stance_distribution_qwen_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This supplementary view shows answer-category proportions per steering coefficient; it is not a coordinate trajectory.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Stance Distribution: Qwen German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Stacked bars show how answer-category proportions shift with increasing steering coefficient.</a:t>
            </a:r>
          </a:p>
        </p:txBody>
      </p:sp>
      <p:pic>
        <p:nvPicPr>
          <p:cNvPr id="5" name="Picture 4" descr="figS1_focused_stance_distribution_qwen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This supplementary view shows answer-category proportions per steering coefficient; it is not a coordinate trajectory.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Stance Distribution: Mistral English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Stacked bars show how answer-category proportions shift with increasing steering coefficient.</a:t>
            </a:r>
          </a:p>
        </p:txBody>
      </p:sp>
      <p:pic>
        <p:nvPicPr>
          <p:cNvPr id="5" name="Picture 4" descr="figS1_focused_stance_distribution_mistral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This supplementary view shows answer-category proportions per steering coefficient; it is not a coordinate trajectory.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Stance Distribution: Mistral Italian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Stacked bars show how answer-category proportions shift with increasing steering coefficient.</a:t>
            </a:r>
          </a:p>
        </p:txBody>
      </p:sp>
      <p:pic>
        <p:nvPicPr>
          <p:cNvPr id="5" name="Picture 4" descr="figS1_focused_stance_distribution_mistral_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This supplementary view shows answer-category proportions per steering coefficient; it is not a coordinate trajectory.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Stance Distribution: Mistral French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Stacked bars show how answer-category proportions shift with increasing steering coefficient.</a:t>
            </a:r>
          </a:p>
        </p:txBody>
      </p:sp>
      <p:pic>
        <p:nvPicPr>
          <p:cNvPr id="5" name="Picture 4" descr="figS1_focused_stance_distribution_mistral_f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This supplementary view shows answer-category proportions per steering coefficient; it is not a coordinate trajectory.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Stance Distribution: Mistral Spanish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Stacked bars show how answer-category proportions shift with increasing steering coefficient.</a:t>
            </a:r>
          </a:p>
        </p:txBody>
      </p:sp>
      <p:pic>
        <p:nvPicPr>
          <p:cNvPr id="5" name="Picture 4" descr="figS1_focused_stance_distribution_mistral_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This supplementary view shows answer-category proportions per steering coefficient; it is not a coordinate trajectory.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Stance Distribution: Mistral German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Stacked bars show how answer-category proportions shift with increasing steering coefficient.</a:t>
            </a:r>
          </a:p>
        </p:txBody>
      </p:sp>
      <p:pic>
        <p:nvPicPr>
          <p:cNvPr id="5" name="Picture 4" descr="figS1_focused_stance_distribution_mistral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This supplementary view shows answer-category proportions per steering coefficient; it is not a coordinate trajectory.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Stance Distribution: Llama-3 English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Stacked bars show how answer-category proportions shift with increasing steering coefficient.</a:t>
            </a:r>
          </a:p>
        </p:txBody>
      </p:sp>
      <p:pic>
        <p:nvPicPr>
          <p:cNvPr id="5" name="Picture 4" descr="figS1_focused_stance_distribution_llama3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This supplementary view shows answer-category proportions per steering coefficient; it is not a coordinate trajectory.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Stance Distribution: Llama-3 Italian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Stacked bars show how answer-category proportions shift with increasing steering coefficient.</a:t>
            </a:r>
          </a:p>
        </p:txBody>
      </p:sp>
      <p:pic>
        <p:nvPicPr>
          <p:cNvPr id="5" name="Picture 4" descr="figS1_focused_stance_distribution_llama3_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This supplementary view shows answer-category proportions per steering coefficient; it is not a coordinate trajectory.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Stance Distribution: Llama-3 French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Stacked bars show how answer-category proportions shift with increasing steering coefficient.</a:t>
            </a:r>
          </a:p>
        </p:txBody>
      </p:sp>
      <p:pic>
        <p:nvPicPr>
          <p:cNvPr id="5" name="Picture 4" descr="figS1_focused_stance_distribution_llama3_f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This supplementary view shows answer-category proportions per steering coefficient; it is not a coordinate trajectory.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Stance Distribution: Llama-3 Spanish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Stacked bars show how answer-category proportions shift with increasing steering coefficient.</a:t>
            </a:r>
          </a:p>
        </p:txBody>
      </p:sp>
      <p:pic>
        <p:nvPicPr>
          <p:cNvPr id="5" name="Picture 4" descr="figS1_focused_stance_distribution_llama3_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This supplementary view shows answer-category proportions per steering coefficient; it is not a coordinate trajectory.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Stance Distribution: Llama-3 German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Stacked bars show how answer-category proportions shift with increasing steering coefficient.</a:t>
            </a:r>
          </a:p>
        </p:txBody>
      </p:sp>
      <p:pic>
        <p:nvPicPr>
          <p:cNvPr id="5" name="Picture 4" descr="figS1_focused_stance_distribution_llama3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367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5C5C"/>
                </a:solidFill>
                <a:latin typeface="Aptos"/>
              </a:defRPr>
            </a:pPr>
            <a:r>
              <a:t>This supplementary view shows answer-category proportions per steering coefficient; it is not a coordinate trajectory.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Llama Detailed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The clearest case of behavioral movement under steering.</a:t>
            </a:r>
          </a:p>
        </p:txBody>
      </p:sp>
      <p:pic>
        <p:nvPicPr>
          <p:cNvPr id="5" name="Picture 4" descr="stance_stacked_llama-3-8b-instr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897880" cy="5166360"/>
          </a:xfrm>
          <a:prstGeom prst="rect">
            <a:avLst/>
          </a:prstGeom>
        </p:spPr>
      </p:pic>
      <p:pic>
        <p:nvPicPr>
          <p:cNvPr id="6" name="Picture 5" descr="radar_coef4_llama-3-8b-instr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508760"/>
            <a:ext cx="516636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Qwen and Mistral Detailed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  <a:latin typeface="Aptos"/>
              </a:defRPr>
            </a:pPr>
            <a:r>
              <a:t>Two weaker/less direct steering stories.</a:t>
            </a:r>
          </a:p>
        </p:txBody>
      </p:sp>
      <p:pic>
        <p:nvPicPr>
          <p:cNvPr id="5" name="Picture 4" descr="radar_coef4_qwen2_5-7b-instr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257800" cy="4480560"/>
          </a:xfrm>
          <a:prstGeom prst="rect">
            <a:avLst/>
          </a:prstGeom>
        </p:spPr>
      </p:pic>
      <p:pic>
        <p:nvPicPr>
          <p:cNvPr id="6" name="Picture 5" descr="radar_coef4_mistral-7b-instruct-v0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00200"/>
            <a:ext cx="52578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1919"/>
                </a:solidFill>
                <a:latin typeface="Aptos"/>
              </a:defRPr>
            </a:pPr>
            <a:r>
              <a:t>Current Interpretation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43000" cy="45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Main story: political stance behavior is model-dependent, language-dependent, and intervention-dependent.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Key claim to sharpen: high detectability does not guarantee high steerability.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Current result table separates item-level answer changes from coordinate-level compass movement.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Next writing step: turn each slide into a paragraph-level explanation for the paper/report.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